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61" r:id="rId9"/>
    <p:sldId id="274" r:id="rId10"/>
    <p:sldId id="262" r:id="rId11"/>
    <p:sldId id="264" r:id="rId12"/>
    <p:sldId id="275" r:id="rId13"/>
    <p:sldId id="266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7DEB9A-3C69-F2B9-BC7A-7990122B9F5B}" v="232" dt="2026-07-20T11:21:41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7" y="4493079"/>
            <a:ext cx="108585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127593"/>
            <a:ext cx="2543175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715875"/>
            <a:ext cx="1140142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3F0DF"/>
                </a:solidFill>
                <a:latin typeface="Merriweather"/>
              </a:rPr>
              <a:t>Smart Power Quality</a:t>
            </a:r>
            <a:r>
              <a:t>
</a:t>
            </a:r>
            <a:r>
              <a:rPr sz="4050" b="1" i="0" u="none">
                <a:solidFill>
                  <a:srgbClr val="F3F0DF"/>
                </a:solidFill>
                <a:latin typeface="Merriweather"/>
              </a:rPr>
              <a:t>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143235"/>
            <a:ext cx="1085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DD6E2"/>
                </a:solidFill>
                <a:latin typeface="DM Sans"/>
              </a:rPr>
              <a:t>An high-accuracy, internet-enabled instrumentation platform for electrical harmonics and metrics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7" y="4798332"/>
            <a:ext cx="2047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FB15B"/>
                </a:solidFill>
                <a:latin typeface="DM Sans"/>
              </a:rPr>
              <a:t>DESIGNED BY ELECTROSQUAD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7" y="5097236"/>
            <a:ext cx="6353175" cy="1137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25000"/>
              </a:lnSpc>
              <a:buFont typeface="Arial,Sans-Serif"/>
              <a:buChar char="•"/>
            </a:pPr>
            <a:r>
              <a:rPr lang="en-US" sz="12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Anthony C.S.B. (230045X)</a:t>
            </a:r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25000"/>
              </a:lnSpc>
              <a:buFont typeface="Arial,Sans-Serif"/>
              <a:buChar char="•"/>
            </a:pPr>
            <a:r>
              <a:rPr lang="en-US" sz="1200" b="0" i="0" u="none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Chandrakumara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b="0" i="0" u="none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H.A.D.C. (230100M)</a:t>
            </a:r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25000"/>
              </a:lnSpc>
              <a:buFont typeface="Arial,Sans-Serif"/>
              <a:buChar char="•"/>
            </a:pPr>
            <a:r>
              <a:rPr lang="en-US" sz="1200" b="0" i="0" u="none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Hansindu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b="0" i="0" u="none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M.M.A.D. (230229P)</a:t>
            </a:r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25000"/>
              </a:lnSpc>
              <a:buFont typeface="Arial,Sans-Serif"/>
              <a:buChar char="•"/>
            </a:pPr>
            <a:r>
              <a:rPr lang="en-US" sz="12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Perera H.A.J.I. (230477X)</a:t>
            </a:r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1450" indent="-171450" algn="l">
              <a:lnSpc>
                <a:spcPct val="125000"/>
              </a:lnSpc>
              <a:buFont typeface="Arial,Sans-Serif"/>
              <a:buChar char="•"/>
            </a:pPr>
            <a:r>
              <a:rPr lang="en-US" sz="12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Weerasinghe J.A.H.R. (230697V)</a:t>
            </a:r>
            <a:endParaRPr lang="en-US" sz="1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552700"/>
            <a:ext cx="5238750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2700"/>
            <a:ext cx="5238750" cy="2600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847975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Power Quality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2575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Voltage fluctuations, sags, swells, and frequency drift compromise sensitive hardware across commercial and educational grids.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2905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Nonlinear loads generate high harmonic currents, leading to excessive thermal stresses, power grid losses, and equipment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847975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The LKR 350,000+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25755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Commercial high-end power analyzers range from LKR 350,000 to 1,750,000, making them completely unaffordable for SMEs and laboratories.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05765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Goal: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Engineering a low-cost, high-precision analyzer displaying local FFT data and providing remote telemetry at a fraction of the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Problem &amp;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100262"/>
            <a:ext cx="10858500" cy="3505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275" y="2109787"/>
          <a:ext cx="10839449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9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3F0DF"/>
                          </a:solidFill>
                          <a:latin typeface="DM Sans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3F0DF"/>
                          </a:solidFill>
                          <a:latin typeface="DM Sans"/>
                        </a:rPr>
                        <a:t>Device Specification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3F0DF"/>
                          </a:solidFill>
                          <a:latin typeface="DM Sans"/>
                        </a:rPr>
                        <a:t>Details &amp; 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System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Single-Phase Power-Quality Analyzer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Designed for industrial/domestic monitoring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Nominal Grid Voltages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230 V AC nominal | 0 - 300 V AC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Adapts to broad fluctuation limits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Nominal Line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50 Hz Base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Real-time detection and logging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Current Measurement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0 to 50 A max measurement limit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SCT-013-050 non-invasive sensor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Harmonics Analysis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1st to 25th Harmonic Order (H1 to H25)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High-speed simultaneous sampling FFT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MCU Inter-comm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921,600 bps high-speed UART link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Minimal packet delivery latency (DMA-backed)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77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Wireless Link &amp; 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2.4 GHz Wi-Fi to Firebase Cloud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Live database sync and historic CSV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6275" y="252412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16672" y="252412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6539" y="252412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275" y="296227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6672" y="296227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6539" y="296227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275" y="340042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16672" y="340042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6539" y="340042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275" y="383857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16672" y="383857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6539" y="383857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275" y="427672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16672" y="427672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6539" y="427672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6275" y="471487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16672" y="471487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6539" y="471487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6275" y="5153025"/>
            <a:ext cx="294039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16672" y="5153025"/>
            <a:ext cx="3699867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6539" y="5153025"/>
            <a:ext cx="419918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Technical Specifications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443162"/>
            <a:ext cx="3460700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2443162"/>
            <a:ext cx="3460700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443162"/>
            <a:ext cx="3460700" cy="2819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33737"/>
            <a:ext cx="311367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Sensing &amp;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433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Voltage: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High-precision divider mapped to an isolated AMC1301 amplifier.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4812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Current: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SCT-013-050 sensor provides galvanic isolation with precise burden calibration.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233737"/>
            <a:ext cx="311367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Acquisition &amp;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6433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16-bit external ADS8588 ADC reads signals concurrently over SPI at 10 kHz.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4214812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STM32F411 processes 1024-point frames using CMSIS-DSP to calculate RMS, THD, and FFT.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3233737"/>
            <a:ext cx="311367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Interface &amp;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36433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ESP32-S3 parses packet arrays over 921,600 bps UART.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4214812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Drives localized 7" touch TFT screen and streams encrypted telemetry into Firebase Realtime Database.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28912"/>
            <a:ext cx="2286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728912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728912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System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26B70-FAED-AC12-C851-C04C545B7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EC22AF4-A3B9-94AF-8E46-E54A149164B6}"/>
              </a:ext>
            </a:extLst>
          </p:cNvPr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System Architecture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F60669-BBBB-B2CA-2512-92783CFF0B42}"/>
              </a:ext>
            </a:extLst>
          </p:cNvPr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33A932-0EC3-42FA-0097-51EC39E53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869" y="1364343"/>
            <a:ext cx="3664835" cy="51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9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667000"/>
            <a:ext cx="52387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67000"/>
            <a:ext cx="5238750" cy="2371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962275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Signal Isolation 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3718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To safely bridge high 230V AC mains voltage to low-voltage MCU digital rails, we integrated AMC1301 isolation amplifiers.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9433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The layout enforces a clear physical gap between primary high-voltage areas and sensitive signal processing traces.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62275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Traces, Filters, and Grounds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37185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Dedicated two-layer board design with solid independent analog/digital ground fills to prevent high-frequency noise insertion.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1719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All ADC inputs include inline RC decoupling networks to protect the external 16-bit ADS8588 analog pins from signal reflection.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Hardware: PCB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332F0-CE40-AB27-ACB9-E3250A95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6CBDF66-3B22-CADC-A282-7A588C77B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727DB0-EC52-D4AA-2B71-69BD600F71F1}"/>
              </a:ext>
            </a:extLst>
          </p:cNvPr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Hardware: PCB Design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03780-0657-7E10-B268-B232D759DCF6}"/>
              </a:ext>
            </a:extLst>
          </p:cNvPr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D3A90E-BA18-0410-4D92-48DF2158F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30" y="2099128"/>
            <a:ext cx="4770211" cy="3432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6FADDF-3444-79F4-A4E1-07C135958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473" y="2100942"/>
            <a:ext cx="4823732" cy="34353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21A66D-FC01-4D2F-E2F4-3F8102D14895}"/>
              </a:ext>
            </a:extLst>
          </p:cNvPr>
          <p:cNvSpPr txBox="1"/>
          <p:nvPr/>
        </p:nvSpPr>
        <p:spPr>
          <a:xfrm>
            <a:off x="2290484" y="5874915"/>
            <a:ext cx="18631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1B4B43"/>
                </a:solidFill>
                <a:ea typeface="Calibri"/>
                <a:cs typeface="Calibri"/>
              </a:rPr>
              <a:t>Front View - 2D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A0E35B-BC94-69E8-29D9-4A7F17E3EB0D}"/>
              </a:ext>
            </a:extLst>
          </p:cNvPr>
          <p:cNvSpPr txBox="1"/>
          <p:nvPr/>
        </p:nvSpPr>
        <p:spPr>
          <a:xfrm>
            <a:off x="8314304" y="5876341"/>
            <a:ext cx="187696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1B4B43"/>
                </a:solidFill>
                <a:ea typeface="Calibri"/>
                <a:cs typeface="Calibri"/>
              </a:rPr>
              <a:t>Front View - 3D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2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495550"/>
            <a:ext cx="523875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5550"/>
            <a:ext cx="5238750" cy="2714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790825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Mechanics &amp; Sizing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2004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Form Factor: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Highly durable, compact desk-ready enclosure matching industrial workbench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7719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Dimensions: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9 inches width, 6 inches height, and a 2.5 inches depth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3434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Safety Integration: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Features integrated ventilation slots for cooling, keeping standard system temperatures 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790825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Human-Machine Interfaces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2004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Local Screen: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Center-mounted high-contrast TFT color touchscreen powered via an FT6336 controller.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7719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E4F64"/>
                </a:solidFill>
                <a:latin typeface="DM Sans"/>
              </a:rPr>
              <a:t>Tactile Controls: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Hardwired rotary encoder and dedicated push-buttons for logging control and screen navigation.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Hardware: Enclosure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3CCB2-1606-3774-5EC2-3212616B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40CF847-9533-E8A4-8848-BE9FC581324C}"/>
              </a:ext>
            </a:extLst>
          </p:cNvPr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Hardware: Enclosure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ACEC48-405A-3964-D070-E6DBD6E6F623}"/>
              </a:ext>
            </a:extLst>
          </p:cNvPr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900E8A-5BE7-D035-BDE7-306EB1311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099" y="2155371"/>
            <a:ext cx="4245430" cy="3189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3D4464-C320-402E-F25B-9870CE6A4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88" y="2153103"/>
            <a:ext cx="4423683" cy="31976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D83B56-9120-9131-8254-50BC2CFE6DA5}"/>
              </a:ext>
            </a:extLst>
          </p:cNvPr>
          <p:cNvSpPr txBox="1"/>
          <p:nvPr/>
        </p:nvSpPr>
        <p:spPr>
          <a:xfrm>
            <a:off x="8405668" y="5675994"/>
            <a:ext cx="20563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1B4B43"/>
                </a:solidFill>
                <a:ea typeface="Calibri"/>
                <a:cs typeface="Calibri"/>
              </a:rPr>
              <a:t>Back View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DE745-9287-C0C9-F204-CE9A215F6D7B}"/>
              </a:ext>
            </a:extLst>
          </p:cNvPr>
          <p:cNvSpPr txBox="1"/>
          <p:nvPr/>
        </p:nvSpPr>
        <p:spPr>
          <a:xfrm>
            <a:off x="2181121" y="5675992"/>
            <a:ext cx="248421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1B4B43"/>
                </a:solidFill>
                <a:ea typeface="Calibri"/>
                <a:cs typeface="Calibri"/>
              </a:rPr>
              <a:t>Front 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6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2656879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Simultaneous 10 kHz Sampling: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SPI interface driven by DMA sweeps external 16-bit ADS8588 analog values at precise intervals to guarantee zero phase delays between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254871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CMSIS-DSP Execution: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The STM32F411 processes 1024 raw data samples every 102.4 ms, using hardware floating-point acceleration to maintain strict real-time deadlines.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3852862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Parametric Calculations: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Computes real-time True RMS Voltages, Currents, Active Power, Reactive Power, Apparent Power, Supply Frequency, and Power Factor.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4450853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Harmonics &amp; THD: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Solves 25-point FFT decompositions on voltage and current profiles, calculating precise Total Harmonic Distortion (THD) ratios up to order H25.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68069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278683"/>
            <a:ext cx="1333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76675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474666"/>
            <a:ext cx="1714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Firmware &amp; 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07" y="2449286"/>
            <a:ext cx="52387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957" y="2449286"/>
            <a:ext cx="5238750" cy="2371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8482" y="2744561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Real-Time IoT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482" y="3154136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Using Vite, React, and TypeScript, the web dashboard displays real-time system metrics directly from Firebase Realtime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482" y="3954236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Automatically triggers visual alerts and warning codes if voltage sags, swells, or high THD conditions are detected.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8232" y="2744561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Session Archives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232" y="3154136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The dashboard lists all historical test periods synced from the analyzer's local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232" y="3725636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Enables single-click downloads of complete measurements in CSV format, facilitating immediate integration with MATLAB or Excel.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IoT Cloud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E49E3-31E0-2B88-C59B-0A17F29F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04F4DCC-D66B-B3E3-E3FA-1FFC389EB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B6BF91-F7F6-BACA-E6CD-757FA88C520B}"/>
              </a:ext>
            </a:extLst>
          </p:cNvPr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IoT Cloud Dashboard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163CFB-3B82-D2DE-9027-5AC8D65B97E9}"/>
              </a:ext>
            </a:extLst>
          </p:cNvPr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0FF2B-8B5B-42A3-FCED-C6216C5D4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42" y="2048689"/>
            <a:ext cx="5646060" cy="31452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A95728-E7AD-A119-0E85-F3DA4E8A4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186" y="2035990"/>
            <a:ext cx="5704115" cy="31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89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323975"/>
            <a:ext cx="10858500" cy="5057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4552950"/>
            <a:ext cx="10858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3E4F64"/>
                </a:solidFill>
                <a:latin typeface="DM Sans"/>
              </a:rPr>
              <a:t>The analyzer successfully isolates and tracks dominant 3rd, 5th, and 7th harmonic profiles, aligning precisely with high-end commercial references under heavy distortion 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Harmonics &amp; Distortion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100262"/>
            <a:ext cx="4767708" cy="3505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458" y="2100262"/>
            <a:ext cx="5709791" cy="3505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733" y="3544788"/>
            <a:ext cx="5119241" cy="42549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275" y="2109787"/>
          <a:ext cx="4748658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3F0DF"/>
                          </a:solidFill>
                          <a:latin typeface="DM Sans"/>
                        </a:rPr>
                        <a:t>No.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3F0DF"/>
                          </a:solidFill>
                          <a:latin typeface="DM Sans"/>
                        </a:rPr>
                        <a:t>Bill of Quantities (BoQ)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3F0DF"/>
                          </a:solidFill>
                          <a:latin typeface="DM Sans"/>
                        </a:rPr>
                        <a:t>Cost (LKR)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General Electronic Components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12,773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7" Color TFT Display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6,000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Cables, Terminals, Connectors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2,000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Enclosure Assembly Parts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3,000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AC-DC Isolated Supply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1,450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7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Two-Layer PCB Manufacturing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DM Sans"/>
                        </a:rPr>
                        <a:t>8,000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77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B1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Estimated Total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B1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DM Sans"/>
                        </a:rPr>
                        <a:t>33,223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B1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10733" y="2395537"/>
            <a:ext cx="537520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Total Cost Equation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0733" y="4852838"/>
            <a:ext cx="511924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Our target selling price of </a:t>
            </a:r>
            <a:r>
              <a:rPr sz="1200" b="1" i="0" u="none">
                <a:solidFill>
                  <a:srgbClr val="3E4F64"/>
                </a:solidFill>
                <a:latin typeface="DM Sans"/>
              </a:rPr>
              <a:t>$300 (~LKR 90,000)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delivers a highly viable profit margin while undercutting commercial analyzers by over 70%.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275" y="252412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48680" y="252412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1829" y="252412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958" y="3687663"/>
            <a:ext cx="4604891" cy="13974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6275" y="296227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48680" y="296227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1829" y="296227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275" y="340042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48680" y="340042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1829" y="340042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6275" y="383857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48680" y="383857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1829" y="383857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275" y="427672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48680" y="427672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1829" y="427672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6275" y="471487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48680" y="471487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1829" y="471487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6275" y="5153025"/>
            <a:ext cx="672405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48680" y="5153025"/>
            <a:ext cx="2813149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61829" y="5153025"/>
            <a:ext cx="1263104" cy="9525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Project Budget &amp; Costing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443162"/>
            <a:ext cx="3460700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2443162"/>
            <a:ext cx="3460700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443162"/>
            <a:ext cx="3460700" cy="2819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33737"/>
            <a:ext cx="311367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Safety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433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Fully compliant with IEC 61000 and IEEE 1159 electrical safety guidelines.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4812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High dielectric barrier protection ensures complete low-voltage user isolation during mains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233737"/>
            <a:ext cx="311367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Enclosure Durability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6433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Constructed with flame-retardant structural plastic.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4214812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Compact, durable desktop form factor with optimized air ventilation allows for reliable continuous 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3233737"/>
            <a:ext cx="311367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FB15B"/>
                </a:solidFill>
                <a:latin typeface="Merriweather"/>
              </a:rPr>
              <a:t>Target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36433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An ideal tool for educational laboratories, SMEs, and grid technicians.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4214812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E4F64"/>
                </a:solidFill>
                <a:latin typeface="DM Sans"/>
              </a:rPr>
              <a:t>Enables affordable energy audits and continuous power quality assessment.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28912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728912"/>
            <a:ext cx="3810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728912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Market Readiness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2971"/>
            <a:ext cx="11255829" cy="3345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2656879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Project Milestones Achieved: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Realized a highly accurate, internet-enabled, single-phase analyzer. Successfully completed all hardware isolation tests and remote dashboard streaming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254871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Three-Phase Expansion: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Upgrading core hardware to enable simultaneous, high-precision measurement of three-phase voltage and current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3852862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Cloud Analytics &amp; Alerts: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Integrating serverless machine learning loops to automatically classify power quality issues (sags, swells, transients) and alert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4450853"/>
            <a:ext cx="9191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B1D33"/>
                </a:solidFill>
                <a:latin typeface="DM Sans"/>
              </a:rPr>
              <a:t>Mobile App Ecosystem:</a:t>
            </a:r>
            <a:r>
              <a:rPr sz="1200" b="0" i="0" u="none">
                <a:solidFill>
                  <a:srgbClr val="3E4F64"/>
                </a:solidFill>
                <a:latin typeface="DM Sans"/>
              </a:rPr>
              <a:t> Developing dedicated Android and iOS companion apps using Bluetooth and local Wi-Fi for quick on-the-go checks.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68069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278683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76675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474666"/>
            <a:ext cx="1333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476250"/>
            <a:ext cx="11401425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B1D33"/>
                </a:solidFill>
                <a:latin typeface="Merriweather"/>
              </a:rPr>
              <a:t>Conclusion &amp; Future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E5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68278" y="3050948"/>
            <a:ext cx="744093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Cambria"/>
                <a:ea typeface="Cambria"/>
              </a:rPr>
              <a:t>THANK </a:t>
            </a:r>
            <a:r>
              <a:rPr lang="en-US" sz="4800" b="1">
                <a:solidFill>
                  <a:srgbClr val="E9CE55"/>
                </a:solidFill>
                <a:latin typeface="Cambria"/>
                <a:ea typeface="Cambria"/>
              </a:rPr>
              <a:t>YOU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19675" y="4086451"/>
            <a:ext cx="21526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1CAA0"/>
                </a:solidFill>
                <a:latin typeface="DM Sans"/>
              </a:rPr>
              <a:t>ELECTROSQUAD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94</cp:revision>
  <dcterms:created xsi:type="dcterms:W3CDTF">2013-01-27T09:14:16Z</dcterms:created>
  <dcterms:modified xsi:type="dcterms:W3CDTF">2026-07-20T11:22:04Z</dcterms:modified>
  <cp:category/>
</cp:coreProperties>
</file>